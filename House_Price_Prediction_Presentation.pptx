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8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4F6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B4F6C"/>
                </a:solidFill>
                <a:latin typeface="Arial"/>
              </a:rPr>
              <a:t>R² Score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5B7A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FC-4FB9-B6BF-8E4A47A834CF}"/>
              </c:ext>
            </c:extLst>
          </c:dPt>
          <c:dPt>
            <c:idx val="1"/>
            <c:invertIfNegative val="0"/>
            <c:bubble3D val="0"/>
            <c:spPr>
              <a:solidFill>
                <a:srgbClr val="0E6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FC-4FB9-B6BF-8E4A47A834CF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FC-4FB9-B6BF-8E4A47A834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3C4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Random
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0.40300000000000002</c:v>
                </c:pt>
                <c:pt idx="1">
                  <c:v>0.82199999999999995</c:v>
                </c:pt>
                <c:pt idx="2">
                  <c:v>0.83399999999999996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DFC-4FB9-B6BF-8E4A47A834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82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E6E8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377440" cy="2377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5669280"/>
            <a:ext cx="6400800" cy="2743200"/>
          </a:xfrm>
          <a:prstGeom prst="ellipse">
            <a:avLst/>
          </a:prstGeom>
          <a:solidFill>
            <a:srgbClr val="0E6E8C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6126480"/>
            <a:ext cx="5486400" cy="2743200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68580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icons/su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 SYSTEM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Real Estate Valuation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California Housing Dataset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4617720"/>
            <a:ext cx="20116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800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Summer Internship 2026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IIHMF, MNNIT Allahabad, Prayagraj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26256" y="5493396"/>
            <a:ext cx="10319738" cy="803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Shanya Kakkar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926256" y="6087325"/>
            <a:ext cx="4265744" cy="53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 |  United College of Engineering and Research, Prayagraj</a:t>
            </a:r>
            <a:endParaRPr lang="en-US" sz="1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b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Background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73352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4630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valuation is shaped by location, physical features, neighbourhood demographics, and market conditions.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679192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4688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appraisal is time-consuming, subjective, and inconsistent across appraisers.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685032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474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data-driven pricing models that learn directly from historical data.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4690872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4805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process far more variables than a human appraiser and detect non-linear pricing relationships.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321320" y="1600200"/>
            <a:ext cx="3291840" cy="4206240"/>
          </a:xfrm>
          <a:prstGeom prst="roundRect">
            <a:avLst>
              <a:gd name="adj" fmla="val 2222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92640" y="1920240"/>
            <a:ext cx="548640" cy="548640"/>
          </a:xfrm>
          <a:prstGeom prst="ellipse">
            <a:avLst/>
          </a:prstGeom>
          <a:solidFill>
            <a:srgbClr val="01BAE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1" descr="icons/wa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204368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4964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595360" y="301752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supervised regression techniques to the California Housing dataset to build an automated house price prediction system.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28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measurable attributes of a residential census block —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0120" y="2432304"/>
            <a:ext cx="128016" cy="12801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304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coordinates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2889504"/>
            <a:ext cx="128016" cy="12801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761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the ocean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60120" y="3346704"/>
            <a:ext cx="128016" cy="12801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housing structures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60120" y="3803904"/>
            <a:ext cx="128016" cy="12801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rooms &amp; households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" y="4343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...predict the median house value for that block.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select a feature set that is both predictive and interpretable — avoiding target leakage while mapping meaningfully to real-world attributes such as area, location, rooms, age, and amenities.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06640" y="155448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0" y="187452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1" descr="icons/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018" y="2018538"/>
            <a:ext cx="352044" cy="3520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89520" y="2697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20,640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758952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block records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California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38160" y="4160520"/>
            <a:ext cx="2743200" cy="0"/>
          </a:xfrm>
          <a:prstGeom prst="line">
            <a:avLst/>
          </a:prstGeom>
          <a:noFill/>
          <a:ln w="12700">
            <a:solidFill>
              <a:srgbClr val="3E8F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80960" y="4343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median_house_value using only interpretable, objective-aligned features.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993392" cy="39319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16152" y="2057400"/>
            <a:ext cx="658368" cy="65836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285" y="2205533"/>
            <a:ext cx="362102" cy="362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39112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29260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 Preprocess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13232" y="35204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California Housing Prices dataset (Kaggle) for regression modelling.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2816352" y="1737360"/>
            <a:ext cx="1993392" cy="39319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83864" y="2057400"/>
            <a:ext cx="658368" cy="65836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997" y="2205533"/>
            <a:ext cx="362102" cy="362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06824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953512" y="29260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980944" y="35204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to understand feature distributions and the strongest predictors.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084064" y="1737360"/>
            <a:ext cx="1993392" cy="39319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751576" y="2057400"/>
            <a:ext cx="658368" cy="658368"/>
          </a:xfrm>
          <a:prstGeom prst="ellipse">
            <a:avLst/>
          </a:prstGeom>
          <a:solidFill>
            <a:srgbClr val="FFC85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9709" y="2205533"/>
            <a:ext cx="362102" cy="3621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74536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221224" y="29260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248656" y="35204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rooms_per_household &amp; population_per_household for better signal.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7351776" y="1737360"/>
            <a:ext cx="1993392" cy="39319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19288" y="2057400"/>
            <a:ext cx="658368" cy="658368"/>
          </a:xfrm>
          <a:prstGeom prst="ellipse">
            <a:avLst/>
          </a:prstGeom>
          <a:solidFill>
            <a:srgbClr val="01BAE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4" descr="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421" y="2205533"/>
            <a:ext cx="362102" cy="3621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42248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488936" y="29260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Compare Models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516368" y="35204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Linear Regression, Random Forest, and XGBoost.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9619488" y="1737360"/>
            <a:ext cx="1993392" cy="39319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287000" y="2057400"/>
            <a:ext cx="658368" cy="658368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5" descr="icons/lapt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5133" y="2205533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10996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756648" y="29260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Model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9784080" y="35204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best performer as an interactive Streamlit web app.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673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20,640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258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17520" y="16002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017520" y="1673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017520" y="2258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6002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1673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486400" y="2258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Source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7406640" cy="263347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longitude, latitude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coordinates of the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housing_median_age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age of houses in the block (years)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total_rooms / total_bedrooms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counts in the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population, households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Residents &amp; housing units in the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household income (in $10,000s)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ocean_proximity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descriptor (e.g., INLAND, NEAR BAY)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median_house_value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— median house value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229600" y="292608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0" y="3154680"/>
            <a:ext cx="548640" cy="548640"/>
          </a:xfrm>
          <a:prstGeom prst="ellipse">
            <a:avLst/>
          </a:prstGeom>
          <a:solidFill>
            <a:srgbClr val="FFC85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1" descr="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32781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840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“amenities” field exists — population &amp; households are used as density proxies to approximate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" y="3017520"/>
            <a:ext cx="10149840" cy="0"/>
          </a:xfrm>
          <a:prstGeom prst="line">
            <a:avLst/>
          </a:prstGeom>
          <a:noFill/>
          <a:ln w="38100">
            <a:solidFill>
              <a:srgbClr val="CFE7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20" y="2628900"/>
            <a:ext cx="777240" cy="777240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2823210"/>
            <a:ext cx="388620" cy="3886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0040" y="35158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067197" y="2628900"/>
            <a:ext cx="777240" cy="77724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icons/b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507" y="282321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91225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770017" y="16687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517174" y="2628900"/>
            <a:ext cx="777240" cy="777240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1484" y="2823210"/>
            <a:ext cx="388620" cy="3886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41202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219994" y="35158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967151" y="2628900"/>
            <a:ext cx="777240" cy="77724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4" descr="icons/c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1461" y="2823210"/>
            <a:ext cx="388620" cy="3886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91179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669971" y="16687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417129" y="2628900"/>
            <a:ext cx="777240" cy="777240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5" descr="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439" y="2823210"/>
            <a:ext cx="388620" cy="3886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41157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119949" y="35158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7867106" y="2628900"/>
            <a:ext cx="777240" cy="77724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6" descr="icons/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1416" y="2823210"/>
            <a:ext cx="388620" cy="3886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091134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569926" y="16687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9317083" y="2628900"/>
            <a:ext cx="777240" cy="777240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7" descr="icons/lay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1393" y="2823210"/>
            <a:ext cx="388620" cy="3886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541111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9019903" y="35158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10767060" y="2628900"/>
            <a:ext cx="777240" cy="77724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8" descr="icons/lapt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61370" y="2823210"/>
            <a:ext cx="388620" cy="3886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991088" y="22814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10469880" y="16687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8-stage, end-to-end pipeline — from raw data ingestion through to a deployed, interactive prediction interface.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b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308860"/>
            <a:ext cx="594360" cy="59436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244259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Treatment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600200" y="23500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total_bedrooms had 207 nulls (~1%) — imputed using the column median.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2308860"/>
            <a:ext cx="594360" cy="59436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2442591"/>
            <a:ext cx="326898" cy="326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315200" y="23500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checked for duplicate rows — none were found.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457700"/>
            <a:ext cx="594360" cy="59436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459143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096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Handling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600200" y="449884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cap at $500,001 retained as-is; tree-based models are naturally robust to outliers.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4457700"/>
            <a:ext cx="594360" cy="59436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459143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4096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Encoding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315200" y="449884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ocean_proximity one-hot encoded via pandas.get_dummies (drop_first=True).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05200" cy="3977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figures/fig4_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828800"/>
            <a:ext cx="323088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4224528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85800" y="4480560"/>
            <a:ext cx="323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 value is right-skewed with a hard cap at $500,001.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328160" y="1691640"/>
            <a:ext cx="3505200" cy="3977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2" descr="figures/fig4_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65320" y="1828800"/>
            <a:ext cx="3230880" cy="2331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65320" y="4224528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2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465320" y="4480560"/>
            <a:ext cx="323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 blocks show systematically lower prices than coastal ones.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107680" y="1691640"/>
            <a:ext cx="3505200" cy="3977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3" descr="figures/fig4_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44840" y="1828800"/>
            <a:ext cx="3230880" cy="23317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44840" y="4224528"/>
            <a:ext cx="323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3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244840" y="4480560"/>
            <a:ext cx="323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median_income has the strongest linear correlation (0.69) with price.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063240" y="2148840"/>
            <a:ext cx="731520" cy="73152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mapmar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31343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rooms_per_household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280160" y="3566160"/>
            <a:ext cx="4297680" cy="594360"/>
          </a:xfrm>
          <a:prstGeom prst="roundRect">
            <a:avLst>
              <a:gd name="adj" fmla="val 23077"/>
            </a:avLst>
          </a:prstGeom>
          <a:solidFill>
            <a:srgbClr val="0E6E8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280160" y="3566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total_rooms ÷ households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the average size of dwellings in the block.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675120" y="18288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915400" y="2148840"/>
            <a:ext cx="731520" cy="73152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icons/wa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2" y="231343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population_per_household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32320" y="3566160"/>
            <a:ext cx="4297680" cy="594360"/>
          </a:xfrm>
          <a:prstGeom prst="roundRect">
            <a:avLst>
              <a:gd name="adj" fmla="val 23077"/>
            </a:avLst>
          </a:prstGeom>
          <a:solidFill>
            <a:srgbClr val="0E6E8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132320" y="3566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÷ households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04088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household density and occupancy levels.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normalised ratios carry more predictive signal than raw totals, since they account for varying block sizes.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88820" y="2103120"/>
            <a:ext cx="777240" cy="777240"/>
          </a:xfrm>
          <a:prstGeom prst="ellipse">
            <a:avLst/>
          </a:prstGeom>
          <a:solidFill>
            <a:srgbClr val="5B7A8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699" y="227799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14400" y="36118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assuming a linear relationship between features and target.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34840" y="173736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83580" y="2103120"/>
            <a:ext cx="777240" cy="77724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459" y="2277999"/>
            <a:ext cx="427482" cy="42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709160" y="36118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200 estimators, max depth 15.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29600" y="173736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2296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578340" y="228600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icons/tro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219" y="2460879"/>
            <a:ext cx="427482" cy="4274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503920" y="37947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ensemble. 300 estimators, depth 6, learning rate 0.05.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 Metrics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39496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88,463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46,623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6309360" y="169164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822960" y="470916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icons/tro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4853178"/>
            <a:ext cx="352044" cy="3520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461772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wins: </a:t>
            </a: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 ($31,340) and highest R² (0.834) on 4,128 held-out test records — despite excluding median_income entirely.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5" name="Text 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Screenshots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0" y="1701562"/>
            <a:ext cx="6712418" cy="4023360"/>
          </a:xfrm>
          <a:prstGeom prst="roundRect">
            <a:avLst>
              <a:gd name="adj" fmla="val 0"/>
            </a:avLst>
          </a:prstGeom>
          <a:solidFill>
            <a:srgbClr val="0F5877"/>
          </a:solidFill>
          <a:ln w="25400">
            <a:solidFill>
              <a:srgbClr val="01BAE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3040380" y="2240280"/>
            <a:ext cx="822960" cy="822960"/>
          </a:xfrm>
          <a:prstGeom prst="ellipse">
            <a:avLst/>
          </a:prstGeom>
          <a:solidFill>
            <a:srgbClr val="CFE7E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460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291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 here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97280" y="37947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Input Panel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429768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widgets for longitude, latitude, housing age, rooms, population, households &amp; ocean proximity.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06440" y="1710088"/>
            <a:ext cx="6400800" cy="4023360"/>
          </a:xfrm>
          <a:prstGeom prst="roundRect">
            <a:avLst>
              <a:gd name="adj" fmla="val 1818"/>
            </a:avLst>
          </a:prstGeom>
          <a:solidFill>
            <a:srgbClr val="0F5877"/>
          </a:solidFill>
          <a:ln w="25400">
            <a:solidFill>
              <a:srgbClr val="01BAEF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846820" y="2240280"/>
            <a:ext cx="822960" cy="822960"/>
          </a:xfrm>
          <a:prstGeom prst="ellipse">
            <a:avLst/>
          </a:prstGeom>
          <a:solidFill>
            <a:srgbClr val="CFE7E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4460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291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 here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903720" y="37947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086600" y="429768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 shown as a numeric value with a visual gauge chart.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84528D-51A3-1217-BAB7-34377C84F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39" y="2011680"/>
            <a:ext cx="5852160" cy="32918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04331D-519D-9CE5-4536-593B4D39B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01168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4480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figures/fig5_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810512"/>
            <a:ext cx="4206240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4480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2" descr="figures/fig5_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4005072"/>
            <a:ext cx="4206240" cy="1828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9240" y="1737360"/>
            <a:ext cx="6263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dominates: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(0.834) and Random Forest (0.822) far outperform Linear Regression (0.403), confirming a highly non-linear price relationship.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removal impact: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median_income hurt Linear Regression far more than the ensembles — tree models found non-linear substitutes via ocean_proximity_INLAND.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ocean_proximity_INLAND alone accounts for over 70% of XGBoost's decision weight.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E6E8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657600" cy="3657600"/>
          </a:xfrm>
          <a:prstGeom prst="ellipse">
            <a:avLst/>
          </a:prstGeom>
          <a:solidFill>
            <a:srgbClr val="0E6E8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572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 (XGBoost)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$31,340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1381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Benchmarked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3063240"/>
            <a:ext cx="10515600" cy="0"/>
          </a:xfrm>
          <a:prstGeom prst="line">
            <a:avLst/>
          </a:prstGeom>
          <a:noFill/>
          <a:ln w="12700">
            <a:solidFill>
              <a:srgbClr val="3E8F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291840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complete, end-to-end ML pipeline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collection, preprocessing, EDA, feature engineering, training, evaluation, and deployment.
</a:t>
            </a:r>
            <a:r>
              <a:rPr lang="en-US" sz="1450" b="1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an interactive Streamlit app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price predictions from user-supplied property details.
</a:t>
            </a:r>
            <a:r>
              <a:rPr lang="en-US" sz="1450" b="1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feature selection: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 features that didn't map to the stated objective, at under 1% R² cost.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C85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icons/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8059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6733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real-world features (school distance, crime rate)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0E6E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42773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2951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tuning (GridSearchCV / Optuna)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40080" y="2935224"/>
            <a:ext cx="457200" cy="457200"/>
          </a:xfrm>
          <a:prstGeom prst="ellipse">
            <a:avLst/>
          </a:prstGeom>
          <a:solidFill>
            <a:srgbClr val="FFC85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04952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29169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stacking techniques for further error reduction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01BAE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4" descr="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367131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35387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dataset with more recent housing data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40080" y="4178808"/>
            <a:ext cx="457200" cy="457200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5" descr="icons/p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4293108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41605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deployment via Streamlit Community Cloud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78638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0B4F6C"/>
          </a:solidFill>
          <a:ln w="12700">
            <a:solidFill>
              <a:srgbClr val="E3EEF1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9326880" y="2011680"/>
            <a:ext cx="822960" cy="822960"/>
          </a:xfrm>
          <a:prstGeom prst="ellipse">
            <a:avLst/>
          </a:prstGeom>
          <a:solidFill>
            <a:srgbClr val="FF6B3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6" descr="icons/ques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2046" y="2196846"/>
            <a:ext cx="452628" cy="4526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863840" y="3063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4" name="Text 15"/>
          <p:cNvSpPr/>
          <p:nvPr/>
        </p:nvSpPr>
        <p:spPr>
          <a:xfrm>
            <a:off x="786384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8503920" y="4114800"/>
            <a:ext cx="2468880" cy="0"/>
          </a:xfrm>
          <a:prstGeom prst="line">
            <a:avLst/>
          </a:prstGeom>
          <a:noFill/>
          <a:ln w="12700">
            <a:solidFill>
              <a:srgbClr val="3E8FA5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7863840" y="4343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Shanya Kakkar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F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UCER Prayagraj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System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1094</Words>
  <Application>Microsoft Office PowerPoint</Application>
  <PresentationFormat>Widescreen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System</dc:title>
  <dc:subject>PptxGenJS Presentation</dc:subject>
  <dc:creator>Shanya Kakkar</dc:creator>
  <cp:lastModifiedBy>SHANYA KAKKAR</cp:lastModifiedBy>
  <cp:revision>2</cp:revision>
  <dcterms:created xsi:type="dcterms:W3CDTF">2026-07-02T10:34:42Z</dcterms:created>
  <dcterms:modified xsi:type="dcterms:W3CDTF">2026-07-03T05:13:09Z</dcterms:modified>
</cp:coreProperties>
</file>